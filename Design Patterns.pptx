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2"/>
    <p:sldId id="258" r:id="rId3"/>
    <p:sldId id="259" r:id="rId4"/>
    <p:sldId id="257" r:id="rId5"/>
    <p:sldId id="263" r:id="rId6"/>
    <p:sldId id="260" r:id="rId7"/>
    <p:sldId id="261"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CDFB41-8ED5-49F0-A943-A3AC9D0C3E0A}" v="4" dt="2022-12-15T11:46:56.5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0008" autoAdjust="0"/>
  </p:normalViewPr>
  <p:slideViewPr>
    <p:cSldViewPr snapToGrid="0">
      <p:cViewPr varScale="1">
        <p:scale>
          <a:sx n="102" d="100"/>
          <a:sy n="102" d="100"/>
        </p:scale>
        <p:origin x="840" y="114"/>
      </p:cViewPr>
      <p:guideLst/>
    </p:cSldViewPr>
  </p:slideViewPr>
  <p:notesTextViewPr>
    <p:cViewPr>
      <p:scale>
        <a:sx n="1" d="1"/>
        <a:sy n="1" d="1"/>
      </p:scale>
      <p:origin x="0" y="-10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a Fløysvik Pedersen" userId="bf96d5c3-b6d9-4e2d-a837-73c672c22f72" providerId="ADAL" clId="{E5CDFB41-8ED5-49F0-A943-A3AC9D0C3E0A}"/>
    <pc:docChg chg="undo custSel addSld modSld">
      <pc:chgData name="Ina Fløysvik Pedersen" userId="bf96d5c3-b6d9-4e2d-a837-73c672c22f72" providerId="ADAL" clId="{E5CDFB41-8ED5-49F0-A943-A3AC9D0C3E0A}" dt="2022-12-15T11:56:47.718" v="1335" actId="20577"/>
      <pc:docMkLst>
        <pc:docMk/>
      </pc:docMkLst>
      <pc:sldChg chg="modNotesTx">
        <pc:chgData name="Ina Fløysvik Pedersen" userId="bf96d5c3-b6d9-4e2d-a837-73c672c22f72" providerId="ADAL" clId="{E5CDFB41-8ED5-49F0-A943-A3AC9D0C3E0A}" dt="2022-12-08T11:34:04.240" v="5" actId="20577"/>
        <pc:sldMkLst>
          <pc:docMk/>
          <pc:sldMk cId="1109234070" sldId="256"/>
        </pc:sldMkLst>
      </pc:sldChg>
      <pc:sldChg chg="modNotesTx">
        <pc:chgData name="Ina Fløysvik Pedersen" userId="bf96d5c3-b6d9-4e2d-a837-73c672c22f72" providerId="ADAL" clId="{E5CDFB41-8ED5-49F0-A943-A3AC9D0C3E0A}" dt="2022-12-08T11:27:14.114" v="3"/>
        <pc:sldMkLst>
          <pc:docMk/>
          <pc:sldMk cId="2996964204" sldId="257"/>
        </pc:sldMkLst>
      </pc:sldChg>
      <pc:sldChg chg="modSp mod modNotesTx">
        <pc:chgData name="Ina Fløysvik Pedersen" userId="bf96d5c3-b6d9-4e2d-a837-73c672c22f72" providerId="ADAL" clId="{E5CDFB41-8ED5-49F0-A943-A3AC9D0C3E0A}" dt="2022-12-15T09:02:19.869" v="487" actId="20577"/>
        <pc:sldMkLst>
          <pc:docMk/>
          <pc:sldMk cId="1954079656" sldId="258"/>
        </pc:sldMkLst>
        <pc:spChg chg="mod">
          <ac:chgData name="Ina Fløysvik Pedersen" userId="bf96d5c3-b6d9-4e2d-a837-73c672c22f72" providerId="ADAL" clId="{E5CDFB41-8ED5-49F0-A943-A3AC9D0C3E0A}" dt="2022-12-15T09:02:19.869" v="487" actId="20577"/>
          <ac:spMkLst>
            <pc:docMk/>
            <pc:sldMk cId="1954079656" sldId="258"/>
            <ac:spMk id="3" creationId="{512116D4-82B9-F760-CF03-7072250C65B0}"/>
          </ac:spMkLst>
        </pc:spChg>
      </pc:sldChg>
      <pc:sldChg chg="modSp mod modNotesTx">
        <pc:chgData name="Ina Fløysvik Pedersen" userId="bf96d5c3-b6d9-4e2d-a837-73c672c22f72" providerId="ADAL" clId="{E5CDFB41-8ED5-49F0-A943-A3AC9D0C3E0A}" dt="2022-12-15T11:56:47.718" v="1335" actId="20577"/>
        <pc:sldMkLst>
          <pc:docMk/>
          <pc:sldMk cId="2086317827" sldId="259"/>
        </pc:sldMkLst>
        <pc:spChg chg="mod">
          <ac:chgData name="Ina Fløysvik Pedersen" userId="bf96d5c3-b6d9-4e2d-a837-73c672c22f72" providerId="ADAL" clId="{E5CDFB41-8ED5-49F0-A943-A3AC9D0C3E0A}" dt="2022-12-15T11:43:47.360" v="740" actId="20577"/>
          <ac:spMkLst>
            <pc:docMk/>
            <pc:sldMk cId="2086317827" sldId="259"/>
            <ac:spMk id="2" creationId="{42CB6B11-AE2F-0BF8-5048-65B2AE64868F}"/>
          </ac:spMkLst>
        </pc:spChg>
      </pc:sldChg>
      <pc:sldChg chg="modSp mod">
        <pc:chgData name="Ina Fløysvik Pedersen" userId="bf96d5c3-b6d9-4e2d-a837-73c672c22f72" providerId="ADAL" clId="{E5CDFB41-8ED5-49F0-A943-A3AC9D0C3E0A}" dt="2022-12-15T11:49:04.823" v="883" actId="20577"/>
        <pc:sldMkLst>
          <pc:docMk/>
          <pc:sldMk cId="2409744142" sldId="260"/>
        </pc:sldMkLst>
        <pc:spChg chg="mod">
          <ac:chgData name="Ina Fløysvik Pedersen" userId="bf96d5c3-b6d9-4e2d-a837-73c672c22f72" providerId="ADAL" clId="{E5CDFB41-8ED5-49F0-A943-A3AC9D0C3E0A}" dt="2022-12-15T11:49:04.823" v="883" actId="20577"/>
          <ac:spMkLst>
            <pc:docMk/>
            <pc:sldMk cId="2409744142" sldId="260"/>
            <ac:spMk id="3" creationId="{B1DA8934-425C-9EF7-C759-89C97B43FDEE}"/>
          </ac:spMkLst>
        </pc:spChg>
        <pc:picChg chg="mod">
          <ac:chgData name="Ina Fløysvik Pedersen" userId="bf96d5c3-b6d9-4e2d-a837-73c672c22f72" providerId="ADAL" clId="{E5CDFB41-8ED5-49F0-A943-A3AC9D0C3E0A}" dt="2022-12-15T11:48:11.800" v="843" actId="1076"/>
          <ac:picMkLst>
            <pc:docMk/>
            <pc:sldMk cId="2409744142" sldId="260"/>
            <ac:picMk id="6" creationId="{7069BCDB-7AEE-DA87-C963-F18B176E3887}"/>
          </ac:picMkLst>
        </pc:picChg>
      </pc:sldChg>
      <pc:sldChg chg="modSp mod">
        <pc:chgData name="Ina Fløysvik Pedersen" userId="bf96d5c3-b6d9-4e2d-a837-73c672c22f72" providerId="ADAL" clId="{E5CDFB41-8ED5-49F0-A943-A3AC9D0C3E0A}" dt="2022-12-08T11:55:11.564" v="43" actId="20577"/>
        <pc:sldMkLst>
          <pc:docMk/>
          <pc:sldMk cId="3636955761" sldId="261"/>
        </pc:sldMkLst>
        <pc:spChg chg="mod">
          <ac:chgData name="Ina Fløysvik Pedersen" userId="bf96d5c3-b6d9-4e2d-a837-73c672c22f72" providerId="ADAL" clId="{E5CDFB41-8ED5-49F0-A943-A3AC9D0C3E0A}" dt="2022-12-08T11:55:11.564" v="43" actId="20577"/>
          <ac:spMkLst>
            <pc:docMk/>
            <pc:sldMk cId="3636955761" sldId="261"/>
            <ac:spMk id="3" creationId="{7ED3ADBD-D59A-66DA-F220-771A5C2259A0}"/>
          </ac:spMkLst>
        </pc:spChg>
      </pc:sldChg>
      <pc:sldChg chg="modSp new mod modNotesTx">
        <pc:chgData name="Ina Fløysvik Pedersen" userId="bf96d5c3-b6d9-4e2d-a837-73c672c22f72" providerId="ADAL" clId="{E5CDFB41-8ED5-49F0-A943-A3AC9D0C3E0A}" dt="2022-12-15T09:51:20.221" v="726" actId="20577"/>
        <pc:sldMkLst>
          <pc:docMk/>
          <pc:sldMk cId="2877893870" sldId="263"/>
        </pc:sldMkLst>
        <pc:spChg chg="mod">
          <ac:chgData name="Ina Fløysvik Pedersen" userId="bf96d5c3-b6d9-4e2d-a837-73c672c22f72" providerId="ADAL" clId="{E5CDFB41-8ED5-49F0-A943-A3AC9D0C3E0A}" dt="2022-12-14T09:17:58.211" v="62" actId="20577"/>
          <ac:spMkLst>
            <pc:docMk/>
            <pc:sldMk cId="2877893870" sldId="263"/>
            <ac:spMk id="2" creationId="{46946773-02CD-1EA8-CF06-890E8D93C7A3}"/>
          </ac:spMkLst>
        </pc:spChg>
        <pc:spChg chg="mod">
          <ac:chgData name="Ina Fløysvik Pedersen" userId="bf96d5c3-b6d9-4e2d-a837-73c672c22f72" providerId="ADAL" clId="{E5CDFB41-8ED5-49F0-A943-A3AC9D0C3E0A}" dt="2022-12-14T09:18:58.827" v="208" actId="20577"/>
          <ac:spMkLst>
            <pc:docMk/>
            <pc:sldMk cId="2877893870" sldId="263"/>
            <ac:spMk id="3" creationId="{422014B1-7616-BD33-DF55-181FA45F8D3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17B245-5707-42B9-B33E-A246E69202ED}" type="datetimeFigureOut">
              <a:rPr lang="en-US" smtClean="0"/>
              <a:t>12/15/2022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00226B-792D-46A1-B7AF-945BD9DB3D88}" type="slidenum">
              <a:rPr lang="en-US" smtClean="0"/>
              <a:t>‹#›</a:t>
            </a:fld>
            <a:endParaRPr lang="en-US"/>
          </a:p>
        </p:txBody>
      </p:sp>
    </p:spTree>
    <p:extLst>
      <p:ext uri="{BB962C8B-B14F-4D97-AF65-F5344CB8AC3E}">
        <p14:creationId xmlns:p14="http://schemas.microsoft.com/office/powerpoint/2010/main" val="1109226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Welcome to Fag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Kaffe</a:t>
            </a:r>
            <a:r>
              <a:rPr lang="en-US" sz="1800" dirty="0">
                <a:effectLst/>
                <a:latin typeface="Calibri" panose="020F0502020204030204" pitchFamily="34" charset="0"/>
                <a:ea typeface="Calibri" panose="020F0502020204030204" pitchFamily="34" charset="0"/>
                <a:cs typeface="Times New Roman" panose="02020603050405020304" pitchFamily="18" charset="0"/>
              </a:rPr>
              <a:t> om Design Patterns. </a:t>
            </a:r>
          </a:p>
          <a:p>
            <a:r>
              <a:rPr lang="en-US" sz="1800" dirty="0">
                <a:effectLst/>
                <a:latin typeface="Calibri" panose="020F0502020204030204" pitchFamily="34" charset="0"/>
                <a:ea typeface="Calibri" panose="020F0502020204030204" pitchFamily="34" charset="0"/>
                <a:cs typeface="Times New Roman" panose="02020603050405020304" pitchFamily="18" charset="0"/>
              </a:rPr>
              <a:t>I’m Ina Fløysvik Pedersen</a:t>
            </a:r>
            <a:endParaRPr lang="en-US" dirty="0"/>
          </a:p>
        </p:txBody>
      </p:sp>
      <p:sp>
        <p:nvSpPr>
          <p:cNvPr id="4" name="Slide Number Placeholder 3"/>
          <p:cNvSpPr>
            <a:spLocks noGrp="1"/>
          </p:cNvSpPr>
          <p:nvPr>
            <p:ph type="sldNum" sz="quarter" idx="5"/>
          </p:nvPr>
        </p:nvSpPr>
        <p:spPr/>
        <p:txBody>
          <a:bodyPr/>
          <a:lstStyle/>
          <a:p>
            <a:fld id="{DB00226B-792D-46A1-B7AF-945BD9DB3D88}" type="slidenum">
              <a:rPr lang="en-US" smtClean="0"/>
              <a:t>1</a:t>
            </a:fld>
            <a:endParaRPr lang="en-US"/>
          </a:p>
        </p:txBody>
      </p:sp>
    </p:spTree>
    <p:extLst>
      <p:ext uri="{BB962C8B-B14F-4D97-AF65-F5344CB8AC3E}">
        <p14:creationId xmlns:p14="http://schemas.microsoft.com/office/powerpoint/2010/main" val="550243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 way back in 1994, Erich, John, Ralph and Richard also known as the Gang of Four. Created a book called Design Patterns: Elements of Reusable Object-</a:t>
            </a:r>
            <a:r>
              <a:rPr lang="en-US" dirty="0" err="1"/>
              <a:t>Orented</a:t>
            </a:r>
            <a:r>
              <a:rPr lang="en-US" dirty="0"/>
              <a:t> software.</a:t>
            </a:r>
          </a:p>
          <a:p>
            <a:r>
              <a:rPr lang="en-US" dirty="0"/>
              <a:t>The book looks into and give examples to all 23 design patterns, and explain use cases for the pattern, as well as consequences. </a:t>
            </a:r>
          </a:p>
          <a:p>
            <a:r>
              <a:rPr lang="en-US" dirty="0"/>
              <a:t>It has appeared newer patterns making the total of design patterns I found to 29 design patterns. I will mention more about these later.</a:t>
            </a:r>
          </a:p>
        </p:txBody>
      </p:sp>
      <p:sp>
        <p:nvSpPr>
          <p:cNvPr id="4" name="Slide Number Placeholder 3"/>
          <p:cNvSpPr>
            <a:spLocks noGrp="1"/>
          </p:cNvSpPr>
          <p:nvPr>
            <p:ph type="sldNum" sz="quarter" idx="5"/>
          </p:nvPr>
        </p:nvSpPr>
        <p:spPr/>
        <p:txBody>
          <a:bodyPr/>
          <a:lstStyle/>
          <a:p>
            <a:fld id="{DB00226B-792D-46A1-B7AF-945BD9DB3D88}" type="slidenum">
              <a:rPr lang="en-US" smtClean="0"/>
              <a:t>2</a:t>
            </a:fld>
            <a:endParaRPr lang="en-US"/>
          </a:p>
        </p:txBody>
      </p:sp>
    </p:spTree>
    <p:extLst>
      <p:ext uri="{BB962C8B-B14F-4D97-AF65-F5344CB8AC3E}">
        <p14:creationId xmlns:p14="http://schemas.microsoft.com/office/powerpoint/2010/main" val="16325715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design Pattern is a general, reusable solution to a commonly occurring problem within a given context in software design. </a:t>
            </a:r>
          </a:p>
          <a:p>
            <a:r>
              <a:rPr lang="en-US" dirty="0"/>
              <a:t>You can look at the design patterns as a template that you could use to solve common issues that you encounter in software design.</a:t>
            </a:r>
          </a:p>
          <a:p>
            <a:r>
              <a:rPr lang="en-US" dirty="0"/>
              <a:t>Many of the design patterns are built-in to example Visual Studio libraries, so you do not notice that you are using them. </a:t>
            </a:r>
          </a:p>
          <a:p>
            <a:r>
              <a:rPr lang="en-US" dirty="0"/>
              <a:t>As long as you follow the patterns intent, you can implement the pattern in various ways.</a:t>
            </a:r>
          </a:p>
          <a:p>
            <a:r>
              <a:rPr lang="en-US" dirty="0"/>
              <a:t>You use Design Patterns to: Accelerate the development process, gives code readability, making your code more reusable and efficient. Creating a flexible and </a:t>
            </a:r>
            <a:r>
              <a:rPr lang="en-US"/>
              <a:t>easily maintainable code.</a:t>
            </a:r>
            <a:endParaRPr lang="en-US" dirty="0"/>
          </a:p>
        </p:txBody>
      </p:sp>
      <p:sp>
        <p:nvSpPr>
          <p:cNvPr id="4" name="Slide Number Placeholder 3"/>
          <p:cNvSpPr>
            <a:spLocks noGrp="1"/>
          </p:cNvSpPr>
          <p:nvPr>
            <p:ph type="sldNum" sz="quarter" idx="5"/>
          </p:nvPr>
        </p:nvSpPr>
        <p:spPr/>
        <p:txBody>
          <a:bodyPr/>
          <a:lstStyle/>
          <a:p>
            <a:fld id="{DB00226B-792D-46A1-B7AF-945BD9DB3D88}" type="slidenum">
              <a:rPr lang="en-US" smtClean="0"/>
              <a:t>3</a:t>
            </a:fld>
            <a:endParaRPr lang="en-US"/>
          </a:p>
        </p:txBody>
      </p:sp>
    </p:spTree>
    <p:extLst>
      <p:ext uri="{BB962C8B-B14F-4D97-AF65-F5344CB8AC3E}">
        <p14:creationId xmlns:p14="http://schemas.microsoft.com/office/powerpoint/2010/main" val="1982407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Design Patterns are separated into three categories, Creational, Structural, and Behavioral.</a:t>
            </a:r>
          </a:p>
          <a:p>
            <a:r>
              <a:rPr lang="en-US" dirty="0"/>
              <a:t>Creational patterns deals with object creations. The idea behind these patterns is to abstract the object instantiation process and make your system independent of how its objects are created, composed, and represented.</a:t>
            </a:r>
          </a:p>
          <a:p>
            <a:r>
              <a:rPr lang="en-US" dirty="0"/>
              <a:t> It consist of 5 patterns. Abstract Factory, Builder, Factory Method, Prototype and Singleton.</a:t>
            </a:r>
          </a:p>
          <a:p>
            <a:r>
              <a:rPr lang="en-US" dirty="0"/>
              <a:t>Structural patterns deals with ways to define relations between classes and objects. This pattern is concerned with how classes and objects are composed to form larger structures.</a:t>
            </a:r>
          </a:p>
          <a:p>
            <a:r>
              <a:rPr lang="en-US" dirty="0"/>
              <a:t>It consist of 7 patterns, Adapter, Bridge, Composite, Decorator, Facade, Flyweight and Proxy.</a:t>
            </a:r>
          </a:p>
          <a:p>
            <a:r>
              <a:rPr lang="en-US" dirty="0"/>
              <a:t>Behavioral patterns defines ways to communicate between classes or objects. They characterize complex control flow that is difficult to follow at runtime and then let you concentrate on the way objects are interconnected. </a:t>
            </a:r>
          </a:p>
          <a:p>
            <a:r>
              <a:rPr lang="en-US" dirty="0"/>
              <a:t>It consist of 11 patterns, Chain of Responsibility, Command, Interpreter, Iterator, Mediator, Memento, Observer, State, Strategy, Template Method and Visitor</a:t>
            </a:r>
          </a:p>
        </p:txBody>
      </p:sp>
      <p:sp>
        <p:nvSpPr>
          <p:cNvPr id="4" name="Slide Number Placeholder 3"/>
          <p:cNvSpPr>
            <a:spLocks noGrp="1"/>
          </p:cNvSpPr>
          <p:nvPr>
            <p:ph type="sldNum" sz="quarter" idx="5"/>
          </p:nvPr>
        </p:nvSpPr>
        <p:spPr/>
        <p:txBody>
          <a:bodyPr/>
          <a:lstStyle/>
          <a:p>
            <a:fld id="{DB00226B-792D-46A1-B7AF-945BD9DB3D88}" type="slidenum">
              <a:rPr lang="en-US" smtClean="0"/>
              <a:t>4</a:t>
            </a:fld>
            <a:endParaRPr lang="en-US"/>
          </a:p>
        </p:txBody>
      </p:sp>
    </p:spTree>
    <p:extLst>
      <p:ext uri="{BB962C8B-B14F-4D97-AF65-F5344CB8AC3E}">
        <p14:creationId xmlns:p14="http://schemas.microsoft.com/office/powerpoint/2010/main" val="1640327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Null object pattern, is when you use </a:t>
            </a:r>
            <a:r>
              <a:rPr lang="en-US" sz="1800" dirty="0">
                <a:effectLst/>
                <a:latin typeface="Calibri" panose="020F0502020204030204" pitchFamily="34" charset="0"/>
              </a:rPr>
              <a:t>null object to avoid null checks. This simplifies our code, makes it easier to read and write, and decreases complexity. Returned object is not null, meaning when we ask for something, we can be sure that what we are getting back isn't null.</a:t>
            </a:r>
          </a:p>
          <a:p>
            <a:r>
              <a:rPr lang="en-US" sz="1800" dirty="0">
                <a:effectLst/>
                <a:latin typeface="Calibri" panose="020F0502020204030204" pitchFamily="34" charset="0"/>
              </a:rPr>
              <a:t>Specification pattern helps gather domain knowledge in a single place and then reuse it to perform database lookups, in memory validation, and creation of new objects. Specification pattern is a part of Domain-Driven Design.</a:t>
            </a:r>
            <a:endParaRPr lang="en-US" dirty="0"/>
          </a:p>
        </p:txBody>
      </p:sp>
      <p:sp>
        <p:nvSpPr>
          <p:cNvPr id="4" name="Slide Number Placeholder 3"/>
          <p:cNvSpPr>
            <a:spLocks noGrp="1"/>
          </p:cNvSpPr>
          <p:nvPr>
            <p:ph type="sldNum" sz="quarter" idx="5"/>
          </p:nvPr>
        </p:nvSpPr>
        <p:spPr/>
        <p:txBody>
          <a:bodyPr/>
          <a:lstStyle/>
          <a:p>
            <a:fld id="{DB00226B-792D-46A1-B7AF-945BD9DB3D88}" type="slidenum">
              <a:rPr lang="en-US" smtClean="0"/>
              <a:t>5</a:t>
            </a:fld>
            <a:endParaRPr lang="en-US"/>
          </a:p>
        </p:txBody>
      </p:sp>
    </p:spTree>
    <p:extLst>
      <p:ext uri="{BB962C8B-B14F-4D97-AF65-F5344CB8AC3E}">
        <p14:creationId xmlns:p14="http://schemas.microsoft.com/office/powerpoint/2010/main" val="34146075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created a Git Repository that I will share with you!</a:t>
            </a:r>
          </a:p>
          <a:p>
            <a:r>
              <a:rPr lang="en-US" dirty="0"/>
              <a:t>The repository content is based on the Pluralsight course in Design patterns by Kevin </a:t>
            </a:r>
            <a:r>
              <a:rPr lang="en-US" dirty="0" err="1"/>
              <a:t>Dockx</a:t>
            </a:r>
            <a:r>
              <a:rPr lang="en-US" dirty="0"/>
              <a:t>. That I can really recommend</a:t>
            </a:r>
          </a:p>
          <a:p>
            <a:r>
              <a:rPr lang="en-US" dirty="0"/>
              <a:t>Here I have given examples of each pattern. </a:t>
            </a:r>
          </a:p>
          <a:p>
            <a:r>
              <a:rPr lang="en-US" dirty="0"/>
              <a:t>That contains an individual pattern ReadMe file that gives individual  information about:</a:t>
            </a:r>
          </a:p>
          <a:p>
            <a:r>
              <a:rPr lang="en-US" dirty="0"/>
              <a:t>description, examples of cases where it is beneficial to use the pattern, what the consequences of using the pattern are. And which patterns relate to each other.</a:t>
            </a:r>
          </a:p>
        </p:txBody>
      </p:sp>
      <p:sp>
        <p:nvSpPr>
          <p:cNvPr id="4" name="Slide Number Placeholder 3"/>
          <p:cNvSpPr>
            <a:spLocks noGrp="1"/>
          </p:cNvSpPr>
          <p:nvPr>
            <p:ph type="sldNum" sz="quarter" idx="5"/>
          </p:nvPr>
        </p:nvSpPr>
        <p:spPr/>
        <p:txBody>
          <a:bodyPr/>
          <a:lstStyle/>
          <a:p>
            <a:fld id="{DB00226B-792D-46A1-B7AF-945BD9DB3D88}" type="slidenum">
              <a:rPr lang="en-US" smtClean="0"/>
              <a:t>6</a:t>
            </a:fld>
            <a:endParaRPr lang="en-US"/>
          </a:p>
        </p:txBody>
      </p:sp>
    </p:spTree>
    <p:extLst>
      <p:ext uri="{BB962C8B-B14F-4D97-AF65-F5344CB8AC3E}">
        <p14:creationId xmlns:p14="http://schemas.microsoft.com/office/powerpoint/2010/main" val="35039588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Throughout the course I made a list of my favorite design patterns, that I have used in some degree before but not always correctly.</a:t>
            </a:r>
          </a:p>
          <a:p>
            <a:r>
              <a:rPr lang="en-US" dirty="0"/>
              <a:t>The Behavioral pattern, Mediator, is an efficient pattern to use when you have a lot of communication between objects. </a:t>
            </a:r>
          </a:p>
          <a:p>
            <a:r>
              <a:rPr lang="en-US" dirty="0"/>
              <a:t>The mediator will be put in the middle and the objects are forced to communicate via the mediator. </a:t>
            </a:r>
          </a:p>
          <a:p>
            <a:r>
              <a:rPr lang="en-US" dirty="0"/>
              <a:t>This promotes loose coupling by keeping objects from referring to each other explicitly, and it lets you vary their interactions. </a:t>
            </a:r>
          </a:p>
          <a:p>
            <a:endParaRPr lang="en-US" dirty="0"/>
          </a:p>
          <a:p>
            <a:r>
              <a:rPr lang="en-US" dirty="0"/>
              <a:t>The Creational Pattern Builder, is really good to use when you are dealing with object creation. </a:t>
            </a:r>
          </a:p>
          <a:p>
            <a:r>
              <a:rPr lang="en-US" dirty="0"/>
              <a:t>It let’s you construct complex objects step by step, and by doing so, the same construction process can create different representations.</a:t>
            </a:r>
          </a:p>
          <a:p>
            <a:endParaRPr lang="en-US" dirty="0"/>
          </a:p>
          <a:p>
            <a:r>
              <a:rPr lang="en-US" dirty="0"/>
              <a:t>The Structural pattern Bridge, is a commonly used pattern, and it can decouple an abstraction from its implementation so the two can vary independently.</a:t>
            </a:r>
          </a:p>
          <a:p>
            <a:r>
              <a:rPr lang="en-US" dirty="0"/>
              <a:t>Which means you can develop and make changes independently. The abstractions handle complexity by hiding the parts we don’t need to know about.</a:t>
            </a:r>
          </a:p>
        </p:txBody>
      </p:sp>
      <p:sp>
        <p:nvSpPr>
          <p:cNvPr id="4" name="Slide Number Placeholder 3"/>
          <p:cNvSpPr>
            <a:spLocks noGrp="1"/>
          </p:cNvSpPr>
          <p:nvPr>
            <p:ph type="sldNum" sz="quarter" idx="5"/>
          </p:nvPr>
        </p:nvSpPr>
        <p:spPr/>
        <p:txBody>
          <a:bodyPr/>
          <a:lstStyle/>
          <a:p>
            <a:fld id="{DB00226B-792D-46A1-B7AF-945BD9DB3D88}" type="slidenum">
              <a:rPr lang="en-US" smtClean="0"/>
              <a:t>7</a:t>
            </a:fld>
            <a:endParaRPr lang="en-US"/>
          </a:p>
        </p:txBody>
      </p:sp>
    </p:spTree>
    <p:extLst>
      <p:ext uri="{BB962C8B-B14F-4D97-AF65-F5344CB8AC3E}">
        <p14:creationId xmlns:p14="http://schemas.microsoft.com/office/powerpoint/2010/main" val="9888963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00226B-792D-46A1-B7AF-945BD9DB3D88}" type="slidenum">
              <a:rPr lang="en-US" smtClean="0"/>
              <a:t>8</a:t>
            </a:fld>
            <a:endParaRPr lang="en-US"/>
          </a:p>
        </p:txBody>
      </p:sp>
    </p:spTree>
    <p:extLst>
      <p:ext uri="{BB962C8B-B14F-4D97-AF65-F5344CB8AC3E}">
        <p14:creationId xmlns:p14="http://schemas.microsoft.com/office/powerpoint/2010/main" val="40646464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0F6CAD5D-D82F-4E8D-BBD7-F8DAD771920B}" type="datetimeFigureOut">
              <a:rPr lang="en-US" smtClean="0"/>
              <a:t>12/15/2022</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A790E856-9AD6-47EA-92F4-6ECC05ADAB08}"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0338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6CAD5D-D82F-4E8D-BBD7-F8DAD771920B}" type="datetimeFigureOut">
              <a:rPr lang="en-US" smtClean="0"/>
              <a:t>12/15/2022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90E856-9AD6-47EA-92F4-6ECC05ADAB08}" type="slidenum">
              <a:rPr lang="en-US" smtClean="0"/>
              <a:t>‹#›</a:t>
            </a:fld>
            <a:endParaRPr lang="en-US"/>
          </a:p>
        </p:txBody>
      </p:sp>
    </p:spTree>
    <p:extLst>
      <p:ext uri="{BB962C8B-B14F-4D97-AF65-F5344CB8AC3E}">
        <p14:creationId xmlns:p14="http://schemas.microsoft.com/office/powerpoint/2010/main" val="538802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6CAD5D-D82F-4E8D-BBD7-F8DAD771920B}" type="datetimeFigureOut">
              <a:rPr lang="en-US" smtClean="0"/>
              <a:t>12/15/2022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90E856-9AD6-47EA-92F4-6ECC05ADAB08}"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60296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F6CAD5D-D82F-4E8D-BBD7-F8DAD771920B}" type="datetimeFigureOut">
              <a:rPr lang="en-US" smtClean="0"/>
              <a:t>12/15/2022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90E856-9AD6-47EA-92F4-6ECC05ADAB08}" type="slidenum">
              <a:rPr lang="en-US" smtClean="0"/>
              <a:t>‹#›</a:t>
            </a:fld>
            <a:endParaRPr lang="en-US"/>
          </a:p>
        </p:txBody>
      </p:sp>
    </p:spTree>
    <p:extLst>
      <p:ext uri="{BB962C8B-B14F-4D97-AF65-F5344CB8AC3E}">
        <p14:creationId xmlns:p14="http://schemas.microsoft.com/office/powerpoint/2010/main" val="1048079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6CAD5D-D82F-4E8D-BBD7-F8DAD771920B}" type="datetimeFigureOut">
              <a:rPr lang="en-US" smtClean="0"/>
              <a:t>12/15/2022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790E856-9AD6-47EA-92F4-6ECC05ADAB08}"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75435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F6CAD5D-D82F-4E8D-BBD7-F8DAD771920B}" type="datetimeFigureOut">
              <a:rPr lang="en-US" smtClean="0"/>
              <a:t>12/15/2022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790E856-9AD6-47EA-92F4-6ECC05ADAB08}"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22132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6CAD5D-D82F-4E8D-BBD7-F8DAD771920B}" type="datetimeFigureOut">
              <a:rPr lang="en-US" smtClean="0"/>
              <a:t>12/15/2022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790E856-9AD6-47EA-92F4-6ECC05ADAB08}" type="slidenum">
              <a:rPr lang="en-US" smtClean="0"/>
              <a:t>‹#›</a:t>
            </a:fld>
            <a:endParaRPr lang="en-US"/>
          </a:p>
        </p:txBody>
      </p:sp>
    </p:spTree>
    <p:extLst>
      <p:ext uri="{BB962C8B-B14F-4D97-AF65-F5344CB8AC3E}">
        <p14:creationId xmlns:p14="http://schemas.microsoft.com/office/powerpoint/2010/main" val="2122097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6CAD5D-D82F-4E8D-BBD7-F8DAD771920B}" type="datetimeFigureOut">
              <a:rPr lang="en-US" smtClean="0"/>
              <a:t>12/15/2022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90E856-9AD6-47EA-92F4-6ECC05ADAB08}"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15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6CAD5D-D82F-4E8D-BBD7-F8DAD771920B}" type="datetimeFigureOut">
              <a:rPr lang="en-US" smtClean="0"/>
              <a:t>12/15/2022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90E856-9AD6-47EA-92F4-6ECC05ADAB08}" type="slidenum">
              <a:rPr lang="en-US" smtClean="0"/>
              <a:t>‹#›</a:t>
            </a:fld>
            <a:endParaRPr lang="en-US"/>
          </a:p>
        </p:txBody>
      </p:sp>
    </p:spTree>
    <p:extLst>
      <p:ext uri="{BB962C8B-B14F-4D97-AF65-F5344CB8AC3E}">
        <p14:creationId xmlns:p14="http://schemas.microsoft.com/office/powerpoint/2010/main" val="33498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6CAD5D-D82F-4E8D-BBD7-F8DAD771920B}" type="datetimeFigureOut">
              <a:rPr lang="en-US" smtClean="0"/>
              <a:t>12/15/2022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90E856-9AD6-47EA-92F4-6ECC05ADAB08}" type="slidenum">
              <a:rPr lang="en-US" smtClean="0"/>
              <a:t>‹#›</a:t>
            </a:fld>
            <a:endParaRPr lang="en-US"/>
          </a:p>
        </p:txBody>
      </p:sp>
    </p:spTree>
    <p:extLst>
      <p:ext uri="{BB962C8B-B14F-4D97-AF65-F5344CB8AC3E}">
        <p14:creationId xmlns:p14="http://schemas.microsoft.com/office/powerpoint/2010/main" val="2590336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6CAD5D-D82F-4E8D-BBD7-F8DAD771920B}" type="datetimeFigureOut">
              <a:rPr lang="en-US" smtClean="0"/>
              <a:t>12/15/2022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90E856-9AD6-47EA-92F4-6ECC05ADAB08}"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438855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6CAD5D-D82F-4E8D-BBD7-F8DAD771920B}" type="datetimeFigureOut">
              <a:rPr lang="en-US" smtClean="0"/>
              <a:t>12/15/2022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90E856-9AD6-47EA-92F4-6ECC05ADAB08}"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14206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6CAD5D-D82F-4E8D-BBD7-F8DAD771920B}" type="datetimeFigureOut">
              <a:rPr lang="en-US" smtClean="0"/>
              <a:t>12/15/2022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90E856-9AD6-47EA-92F4-6ECC05ADAB08}" type="slidenum">
              <a:rPr lang="en-US" smtClean="0"/>
              <a:t>‹#›</a:t>
            </a:fld>
            <a:endParaRPr lang="en-US"/>
          </a:p>
        </p:txBody>
      </p:sp>
    </p:spTree>
    <p:extLst>
      <p:ext uri="{BB962C8B-B14F-4D97-AF65-F5344CB8AC3E}">
        <p14:creationId xmlns:p14="http://schemas.microsoft.com/office/powerpoint/2010/main" val="40174470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6CAD5D-D82F-4E8D-BBD7-F8DAD771920B}" type="datetimeFigureOut">
              <a:rPr lang="en-US" smtClean="0"/>
              <a:t>12/15/2022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90E856-9AD6-47EA-92F4-6ECC05ADAB08}"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49336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6CAD5D-D82F-4E8D-BBD7-F8DAD771920B}" type="datetimeFigureOut">
              <a:rPr lang="en-US" smtClean="0"/>
              <a:t>12/15/2022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90E856-9AD6-47EA-92F4-6ECC05ADAB08}"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96285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6CAD5D-D82F-4E8D-BBD7-F8DAD771920B}" type="datetimeFigureOut">
              <a:rPr lang="en-US" smtClean="0"/>
              <a:t>12/15/2022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90E856-9AD6-47EA-92F4-6ECC05ADAB08}"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33122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6CAD5D-D82F-4E8D-BBD7-F8DAD771920B}" type="datetimeFigureOut">
              <a:rPr lang="en-US" smtClean="0"/>
              <a:t>12/15/2022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90E856-9AD6-47EA-92F4-6ECC05ADAB08}"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81691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F6CAD5D-D82F-4E8D-BBD7-F8DAD771920B}" type="datetimeFigureOut">
              <a:rPr lang="en-US" smtClean="0"/>
              <a:t>12/15/2022</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790E856-9AD6-47EA-92F4-6ECC05ADAB08}" type="slidenum">
              <a:rPr lang="en-US" smtClean="0"/>
              <a:t>‹#›</a:t>
            </a:fld>
            <a:endParaRPr lang="en-US"/>
          </a:p>
        </p:txBody>
      </p:sp>
    </p:spTree>
    <p:extLst>
      <p:ext uri="{BB962C8B-B14F-4D97-AF65-F5344CB8AC3E}">
        <p14:creationId xmlns:p14="http://schemas.microsoft.com/office/powerpoint/2010/main" val="23359368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app.pluralsight.com/library/courses/c-sharp-design-patterns-rules-pattern/table-of-contents" TargetMode="External"/><Relationship Id="rId3" Type="http://schemas.openxmlformats.org/officeDocument/2006/relationships/hyperlink" Target="https://app.pluralsight.com/library/courses/c-sharp-10-design-patterns/table-of-contents" TargetMode="External"/><Relationship Id="rId7" Type="http://schemas.openxmlformats.org/officeDocument/2006/relationships/hyperlink" Target="https://app.pluralsight.com/library/courses/c-sharp-design-patterns-data-access-patterns/table-of-contents"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hyperlink" Target="https://app.pluralsight.com/library/courses/csharp-specification-pattern/table-of-contents" TargetMode="External"/><Relationship Id="rId5" Type="http://schemas.openxmlformats.org/officeDocument/2006/relationships/hyperlink" Target="https://app.pluralsight.com/library/courses/csharp-design-patterns-null-object/table-of-contents" TargetMode="External"/><Relationship Id="rId4" Type="http://schemas.openxmlformats.org/officeDocument/2006/relationships/hyperlink" Target="https://github.com/InaFPedersen/DesignPatterns" TargetMode="External"/><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9.sv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5CCC6-893B-1FEF-2E1F-7D5DE2FC99C0}"/>
              </a:ext>
            </a:extLst>
          </p:cNvPr>
          <p:cNvSpPr>
            <a:spLocks noGrp="1"/>
          </p:cNvSpPr>
          <p:nvPr>
            <p:ph type="ctrTitle"/>
          </p:nvPr>
        </p:nvSpPr>
        <p:spPr/>
        <p:txBody>
          <a:bodyPr/>
          <a:lstStyle/>
          <a:p>
            <a:r>
              <a:rPr lang="en-US" dirty="0"/>
              <a:t>Design Patterns</a:t>
            </a:r>
          </a:p>
        </p:txBody>
      </p:sp>
      <p:sp>
        <p:nvSpPr>
          <p:cNvPr id="3" name="Subtitle 2">
            <a:extLst>
              <a:ext uri="{FF2B5EF4-FFF2-40B4-BE49-F238E27FC236}">
                <a16:creationId xmlns:a16="http://schemas.microsoft.com/office/drawing/2014/main" id="{3533AB35-D35D-F04C-907C-9F1F4730F76D}"/>
              </a:ext>
            </a:extLst>
          </p:cNvPr>
          <p:cNvSpPr>
            <a:spLocks noGrp="1"/>
          </p:cNvSpPr>
          <p:nvPr>
            <p:ph type="subTitle" idx="1"/>
          </p:nvPr>
        </p:nvSpPr>
        <p:spPr/>
        <p:txBody>
          <a:bodyPr/>
          <a:lstStyle/>
          <a:p>
            <a:r>
              <a:rPr lang="en-US" dirty="0"/>
              <a:t>Ina Fløysvik Pedersen</a:t>
            </a:r>
          </a:p>
        </p:txBody>
      </p:sp>
    </p:spTree>
    <p:extLst>
      <p:ext uri="{BB962C8B-B14F-4D97-AF65-F5344CB8AC3E}">
        <p14:creationId xmlns:p14="http://schemas.microsoft.com/office/powerpoint/2010/main" val="1109234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C0E4D-BAE4-8795-8CA1-0DC7617C90A3}"/>
              </a:ext>
            </a:extLst>
          </p:cNvPr>
          <p:cNvSpPr>
            <a:spLocks noGrp="1"/>
          </p:cNvSpPr>
          <p:nvPr>
            <p:ph type="title"/>
          </p:nvPr>
        </p:nvSpPr>
        <p:spPr/>
        <p:txBody>
          <a:bodyPr/>
          <a:lstStyle/>
          <a:p>
            <a:r>
              <a:rPr lang="en-US" dirty="0" err="1"/>
              <a:t>Backround</a:t>
            </a:r>
            <a:endParaRPr lang="en-US" dirty="0"/>
          </a:p>
        </p:txBody>
      </p:sp>
      <p:sp>
        <p:nvSpPr>
          <p:cNvPr id="3" name="Content Placeholder 2">
            <a:extLst>
              <a:ext uri="{FF2B5EF4-FFF2-40B4-BE49-F238E27FC236}">
                <a16:creationId xmlns:a16="http://schemas.microsoft.com/office/drawing/2014/main" id="{512116D4-82B9-F760-CF03-7072250C65B0}"/>
              </a:ext>
            </a:extLst>
          </p:cNvPr>
          <p:cNvSpPr>
            <a:spLocks noGrp="1"/>
          </p:cNvSpPr>
          <p:nvPr>
            <p:ph idx="1"/>
          </p:nvPr>
        </p:nvSpPr>
        <p:spPr/>
        <p:txBody>
          <a:bodyPr/>
          <a:lstStyle/>
          <a:p>
            <a:r>
              <a:rPr lang="en-US" dirty="0"/>
              <a:t>Design Patterns: Elements of Reusable Object-Oriented software (1994)</a:t>
            </a:r>
          </a:p>
          <a:p>
            <a:pPr lvl="1"/>
            <a:r>
              <a:rPr lang="en-US" dirty="0"/>
              <a:t>Erich Gamma, John </a:t>
            </a:r>
            <a:r>
              <a:rPr lang="en-US" dirty="0" err="1"/>
              <a:t>Vlissides</a:t>
            </a:r>
            <a:r>
              <a:rPr lang="en-US" dirty="0"/>
              <a:t>, Ralph Johnson, and Richard Helm (Gang of Four)</a:t>
            </a:r>
          </a:p>
          <a:p>
            <a:pPr lvl="1"/>
            <a:r>
              <a:rPr lang="en-US" dirty="0"/>
              <a:t>23 Design Patterns</a:t>
            </a:r>
          </a:p>
          <a:p>
            <a:endParaRPr lang="en-US" dirty="0"/>
          </a:p>
          <a:p>
            <a:r>
              <a:rPr lang="en-US" dirty="0"/>
              <a:t>New patterns </a:t>
            </a:r>
          </a:p>
        </p:txBody>
      </p:sp>
    </p:spTree>
    <p:extLst>
      <p:ext uri="{BB962C8B-B14F-4D97-AF65-F5344CB8AC3E}">
        <p14:creationId xmlns:p14="http://schemas.microsoft.com/office/powerpoint/2010/main" val="1954079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B6B11-AE2F-0BF8-5048-65B2AE64868F}"/>
              </a:ext>
            </a:extLst>
          </p:cNvPr>
          <p:cNvSpPr>
            <a:spLocks noGrp="1"/>
          </p:cNvSpPr>
          <p:nvPr>
            <p:ph type="title"/>
          </p:nvPr>
        </p:nvSpPr>
        <p:spPr/>
        <p:txBody>
          <a:bodyPr/>
          <a:lstStyle/>
          <a:p>
            <a:r>
              <a:rPr lang="en-US" dirty="0"/>
              <a:t>What is a Design Pattern &amp; why use it?</a:t>
            </a:r>
          </a:p>
        </p:txBody>
      </p:sp>
      <p:sp>
        <p:nvSpPr>
          <p:cNvPr id="3" name="Content Placeholder 2">
            <a:extLst>
              <a:ext uri="{FF2B5EF4-FFF2-40B4-BE49-F238E27FC236}">
                <a16:creationId xmlns:a16="http://schemas.microsoft.com/office/drawing/2014/main" id="{68C1B938-5593-40E8-E56C-387CF1B9BBE3}"/>
              </a:ext>
            </a:extLst>
          </p:cNvPr>
          <p:cNvSpPr>
            <a:spLocks noGrp="1"/>
          </p:cNvSpPr>
          <p:nvPr>
            <p:ph idx="1"/>
          </p:nvPr>
        </p:nvSpPr>
        <p:spPr/>
        <p:txBody>
          <a:bodyPr/>
          <a:lstStyle/>
          <a:p>
            <a:r>
              <a:rPr lang="en-US" dirty="0"/>
              <a:t>A general, reusable solution</a:t>
            </a:r>
          </a:p>
          <a:p>
            <a:r>
              <a:rPr lang="en-US" dirty="0"/>
              <a:t>A template</a:t>
            </a:r>
          </a:p>
          <a:p>
            <a:r>
              <a:rPr lang="en-US" dirty="0"/>
              <a:t>Creating flexible, easily maintainable applications</a:t>
            </a:r>
          </a:p>
          <a:p>
            <a:r>
              <a:rPr lang="en-US" dirty="0"/>
              <a:t>Sometimes you don’t notice</a:t>
            </a:r>
          </a:p>
          <a:p>
            <a:r>
              <a:rPr lang="en-US" dirty="0"/>
              <a:t>Follow the intent of the pattern </a:t>
            </a:r>
          </a:p>
        </p:txBody>
      </p:sp>
    </p:spTree>
    <p:extLst>
      <p:ext uri="{BB962C8B-B14F-4D97-AF65-F5344CB8AC3E}">
        <p14:creationId xmlns:p14="http://schemas.microsoft.com/office/powerpoint/2010/main" val="2086317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BD97-CA09-7EDE-A057-2A2FD6F4351F}"/>
              </a:ext>
            </a:extLst>
          </p:cNvPr>
          <p:cNvSpPr>
            <a:spLocks noGrp="1"/>
          </p:cNvSpPr>
          <p:nvPr>
            <p:ph type="title"/>
          </p:nvPr>
        </p:nvSpPr>
        <p:spPr/>
        <p:txBody>
          <a:bodyPr/>
          <a:lstStyle/>
          <a:p>
            <a:r>
              <a:rPr lang="en-US" dirty="0"/>
              <a:t>Categories</a:t>
            </a:r>
          </a:p>
        </p:txBody>
      </p:sp>
      <p:sp>
        <p:nvSpPr>
          <p:cNvPr id="3" name="Content Placeholder 2">
            <a:extLst>
              <a:ext uri="{FF2B5EF4-FFF2-40B4-BE49-F238E27FC236}">
                <a16:creationId xmlns:a16="http://schemas.microsoft.com/office/drawing/2014/main" id="{FA5F4BB8-5CEB-8EF0-A249-B066234A46FA}"/>
              </a:ext>
            </a:extLst>
          </p:cNvPr>
          <p:cNvSpPr>
            <a:spLocks noGrp="1"/>
          </p:cNvSpPr>
          <p:nvPr>
            <p:ph sz="half" idx="1"/>
          </p:nvPr>
        </p:nvSpPr>
        <p:spPr>
          <a:xfrm>
            <a:off x="1298448" y="2560320"/>
            <a:ext cx="2632284" cy="3310128"/>
          </a:xfrm>
        </p:spPr>
        <p:txBody>
          <a:bodyPr>
            <a:normAutofit fontScale="62500" lnSpcReduction="20000"/>
          </a:bodyPr>
          <a:lstStyle/>
          <a:p>
            <a:r>
              <a:rPr lang="en-US" dirty="0"/>
              <a:t>Creational</a:t>
            </a:r>
          </a:p>
          <a:p>
            <a:pPr lvl="1"/>
            <a:r>
              <a:rPr lang="en-US" dirty="0"/>
              <a:t>Abstract Factory</a:t>
            </a:r>
          </a:p>
          <a:p>
            <a:pPr lvl="1"/>
            <a:r>
              <a:rPr lang="en-US" dirty="0"/>
              <a:t>Builder</a:t>
            </a:r>
          </a:p>
          <a:p>
            <a:pPr lvl="1"/>
            <a:r>
              <a:rPr lang="en-US" dirty="0"/>
              <a:t>Factory Method</a:t>
            </a:r>
          </a:p>
          <a:p>
            <a:pPr lvl="1"/>
            <a:r>
              <a:rPr lang="en-US" dirty="0"/>
              <a:t>Prototype</a:t>
            </a:r>
          </a:p>
          <a:p>
            <a:pPr lvl="1"/>
            <a:r>
              <a:rPr lang="en-US" dirty="0"/>
              <a:t>Singleton</a:t>
            </a:r>
          </a:p>
        </p:txBody>
      </p:sp>
      <p:sp>
        <p:nvSpPr>
          <p:cNvPr id="4" name="Content Placeholder 3">
            <a:extLst>
              <a:ext uri="{FF2B5EF4-FFF2-40B4-BE49-F238E27FC236}">
                <a16:creationId xmlns:a16="http://schemas.microsoft.com/office/drawing/2014/main" id="{8FFE8496-831D-10E4-2BA5-C3B5556F196F}"/>
              </a:ext>
            </a:extLst>
          </p:cNvPr>
          <p:cNvSpPr>
            <a:spLocks noGrp="1"/>
          </p:cNvSpPr>
          <p:nvPr>
            <p:ph sz="half" idx="2"/>
          </p:nvPr>
        </p:nvSpPr>
        <p:spPr>
          <a:xfrm>
            <a:off x="8255174" y="2613759"/>
            <a:ext cx="2638378" cy="3310128"/>
          </a:xfrm>
        </p:spPr>
        <p:txBody>
          <a:bodyPr>
            <a:normAutofit fontScale="62500" lnSpcReduction="20000"/>
          </a:bodyPr>
          <a:lstStyle/>
          <a:p>
            <a:r>
              <a:rPr lang="en-US" dirty="0"/>
              <a:t>Behavioral</a:t>
            </a:r>
          </a:p>
          <a:p>
            <a:pPr lvl="1"/>
            <a:r>
              <a:rPr lang="en-US" dirty="0"/>
              <a:t>Chain of Responsibility</a:t>
            </a:r>
          </a:p>
          <a:p>
            <a:pPr lvl="1"/>
            <a:r>
              <a:rPr lang="en-US" dirty="0"/>
              <a:t>Command</a:t>
            </a:r>
          </a:p>
          <a:p>
            <a:pPr lvl="1"/>
            <a:r>
              <a:rPr lang="en-US" dirty="0"/>
              <a:t>Interpreter</a:t>
            </a:r>
          </a:p>
          <a:p>
            <a:pPr lvl="1"/>
            <a:r>
              <a:rPr lang="en-US" dirty="0"/>
              <a:t>Iterator</a:t>
            </a:r>
          </a:p>
          <a:p>
            <a:pPr lvl="1"/>
            <a:r>
              <a:rPr lang="en-US" dirty="0"/>
              <a:t>Mediator</a:t>
            </a:r>
          </a:p>
          <a:p>
            <a:pPr lvl="1"/>
            <a:r>
              <a:rPr lang="en-US" dirty="0"/>
              <a:t>Memento</a:t>
            </a:r>
          </a:p>
          <a:p>
            <a:pPr lvl="1"/>
            <a:r>
              <a:rPr lang="en-US" dirty="0"/>
              <a:t>Observer</a:t>
            </a:r>
          </a:p>
          <a:p>
            <a:pPr lvl="1"/>
            <a:r>
              <a:rPr lang="en-US" dirty="0"/>
              <a:t>State</a:t>
            </a:r>
          </a:p>
          <a:p>
            <a:pPr lvl="1"/>
            <a:r>
              <a:rPr lang="en-US" dirty="0"/>
              <a:t>Strategy</a:t>
            </a:r>
          </a:p>
          <a:p>
            <a:pPr lvl="1"/>
            <a:r>
              <a:rPr lang="en-US" dirty="0"/>
              <a:t>Template Method</a:t>
            </a:r>
          </a:p>
          <a:p>
            <a:pPr lvl="1"/>
            <a:r>
              <a:rPr lang="en-US" dirty="0"/>
              <a:t>Visitor</a:t>
            </a:r>
          </a:p>
        </p:txBody>
      </p:sp>
      <p:sp>
        <p:nvSpPr>
          <p:cNvPr id="6" name="Content Placeholder 2">
            <a:extLst>
              <a:ext uri="{FF2B5EF4-FFF2-40B4-BE49-F238E27FC236}">
                <a16:creationId xmlns:a16="http://schemas.microsoft.com/office/drawing/2014/main" id="{ADBCFFF8-BBDF-0CDE-A222-C1DF5EAA62A7}"/>
              </a:ext>
            </a:extLst>
          </p:cNvPr>
          <p:cNvSpPr txBox="1">
            <a:spLocks/>
          </p:cNvSpPr>
          <p:nvPr/>
        </p:nvSpPr>
        <p:spPr>
          <a:xfrm>
            <a:off x="4776811" y="2613759"/>
            <a:ext cx="2632284" cy="3310128"/>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US" dirty="0"/>
              <a:t>Structural</a:t>
            </a:r>
          </a:p>
          <a:p>
            <a:pPr lvl="1"/>
            <a:r>
              <a:rPr lang="en-US" sz="1500" dirty="0"/>
              <a:t>Adapter</a:t>
            </a:r>
          </a:p>
          <a:p>
            <a:pPr lvl="1"/>
            <a:r>
              <a:rPr lang="en-US" sz="1500" dirty="0"/>
              <a:t>Bridge</a:t>
            </a:r>
          </a:p>
          <a:p>
            <a:pPr lvl="1"/>
            <a:r>
              <a:rPr lang="en-US" sz="1500" dirty="0"/>
              <a:t>Composite</a:t>
            </a:r>
          </a:p>
          <a:p>
            <a:pPr lvl="1"/>
            <a:r>
              <a:rPr lang="en-US" sz="1500" dirty="0"/>
              <a:t>Decorator</a:t>
            </a:r>
          </a:p>
          <a:p>
            <a:pPr lvl="1"/>
            <a:r>
              <a:rPr lang="en-US" sz="1500" dirty="0"/>
              <a:t>Facade</a:t>
            </a:r>
          </a:p>
          <a:p>
            <a:pPr lvl="1"/>
            <a:r>
              <a:rPr lang="en-US" sz="1500" dirty="0"/>
              <a:t>Flyweight</a:t>
            </a:r>
          </a:p>
          <a:p>
            <a:pPr lvl="1"/>
            <a:r>
              <a:rPr lang="en-US" sz="1500" dirty="0"/>
              <a:t>Proxy</a:t>
            </a:r>
          </a:p>
          <a:p>
            <a:endParaRPr lang="en-US" dirty="0"/>
          </a:p>
        </p:txBody>
      </p:sp>
    </p:spTree>
    <p:extLst>
      <p:ext uri="{BB962C8B-B14F-4D97-AF65-F5344CB8AC3E}">
        <p14:creationId xmlns:p14="http://schemas.microsoft.com/office/powerpoint/2010/main" val="2996964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46773-02CD-1EA8-CF06-890E8D93C7A3}"/>
              </a:ext>
            </a:extLst>
          </p:cNvPr>
          <p:cNvSpPr>
            <a:spLocks noGrp="1"/>
          </p:cNvSpPr>
          <p:nvPr>
            <p:ph type="title"/>
          </p:nvPr>
        </p:nvSpPr>
        <p:spPr/>
        <p:txBody>
          <a:bodyPr/>
          <a:lstStyle/>
          <a:p>
            <a:r>
              <a:rPr lang="en-US" dirty="0"/>
              <a:t>New Patterns</a:t>
            </a:r>
          </a:p>
        </p:txBody>
      </p:sp>
      <p:sp>
        <p:nvSpPr>
          <p:cNvPr id="3" name="Content Placeholder 2">
            <a:extLst>
              <a:ext uri="{FF2B5EF4-FFF2-40B4-BE49-F238E27FC236}">
                <a16:creationId xmlns:a16="http://schemas.microsoft.com/office/drawing/2014/main" id="{422014B1-7616-BD33-DF55-181FA45F8D37}"/>
              </a:ext>
            </a:extLst>
          </p:cNvPr>
          <p:cNvSpPr>
            <a:spLocks noGrp="1"/>
          </p:cNvSpPr>
          <p:nvPr>
            <p:ph idx="1"/>
          </p:nvPr>
        </p:nvSpPr>
        <p:spPr/>
        <p:txBody>
          <a:bodyPr>
            <a:normAutofit lnSpcReduction="10000"/>
          </a:bodyPr>
          <a:lstStyle/>
          <a:p>
            <a:r>
              <a:rPr lang="en-US" dirty="0"/>
              <a:t>Null Object Pattern</a:t>
            </a:r>
          </a:p>
          <a:p>
            <a:r>
              <a:rPr lang="en-US" dirty="0"/>
              <a:t>Specification Pattern</a:t>
            </a:r>
          </a:p>
          <a:p>
            <a:r>
              <a:rPr lang="en-US" dirty="0"/>
              <a:t>Rule Engine Pattern</a:t>
            </a:r>
          </a:p>
          <a:p>
            <a:r>
              <a:rPr lang="en-US" dirty="0"/>
              <a:t>Data Access Patterns</a:t>
            </a:r>
          </a:p>
          <a:p>
            <a:pPr lvl="1"/>
            <a:r>
              <a:rPr lang="en-US" dirty="0"/>
              <a:t>Repository Pattern</a:t>
            </a:r>
          </a:p>
          <a:p>
            <a:pPr lvl="1"/>
            <a:r>
              <a:rPr lang="en-US" dirty="0"/>
              <a:t>Unit of Work Pattern</a:t>
            </a:r>
          </a:p>
          <a:p>
            <a:pPr lvl="1"/>
            <a:r>
              <a:rPr lang="en-US" dirty="0"/>
              <a:t>Lazy Load Pattern</a:t>
            </a:r>
          </a:p>
        </p:txBody>
      </p:sp>
    </p:spTree>
    <p:extLst>
      <p:ext uri="{BB962C8B-B14F-4D97-AF65-F5344CB8AC3E}">
        <p14:creationId xmlns:p14="http://schemas.microsoft.com/office/powerpoint/2010/main" val="2877893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DF430-0AD2-360E-CF98-0776773216A9}"/>
              </a:ext>
            </a:extLst>
          </p:cNvPr>
          <p:cNvSpPr>
            <a:spLocks noGrp="1"/>
          </p:cNvSpPr>
          <p:nvPr>
            <p:ph type="title"/>
          </p:nvPr>
        </p:nvSpPr>
        <p:spPr/>
        <p:txBody>
          <a:bodyPr/>
          <a:lstStyle/>
          <a:p>
            <a:r>
              <a:rPr lang="en-US" dirty="0"/>
              <a:t>Examples of design Patterns!</a:t>
            </a:r>
          </a:p>
        </p:txBody>
      </p:sp>
      <p:sp>
        <p:nvSpPr>
          <p:cNvPr id="3" name="Content Placeholder 2">
            <a:extLst>
              <a:ext uri="{FF2B5EF4-FFF2-40B4-BE49-F238E27FC236}">
                <a16:creationId xmlns:a16="http://schemas.microsoft.com/office/drawing/2014/main" id="{B1DA8934-425C-9EF7-C759-89C97B43FDEE}"/>
              </a:ext>
            </a:extLst>
          </p:cNvPr>
          <p:cNvSpPr>
            <a:spLocks noGrp="1"/>
          </p:cNvSpPr>
          <p:nvPr>
            <p:ph sz="half" idx="1"/>
          </p:nvPr>
        </p:nvSpPr>
        <p:spPr>
          <a:xfrm>
            <a:off x="913834" y="2560320"/>
            <a:ext cx="6448500" cy="3310128"/>
          </a:xfrm>
        </p:spPr>
        <p:txBody>
          <a:bodyPr>
            <a:normAutofit fontScale="47500" lnSpcReduction="20000"/>
          </a:bodyPr>
          <a:lstStyle/>
          <a:p>
            <a:r>
              <a:rPr lang="en-US" dirty="0"/>
              <a:t>Design Patterns: </a:t>
            </a:r>
            <a:r>
              <a:rPr lang="en-US" b="0" i="0" u="sng" dirty="0">
                <a:effectLst/>
                <a:latin typeface="-apple-system"/>
                <a:hlinkClick r:id="rId3"/>
              </a:rPr>
              <a:t>https://app.pluralsight.com/library/courses/c-sharp-10-design-patterns/table-of-contents</a:t>
            </a:r>
            <a:endParaRPr lang="en-US" dirty="0"/>
          </a:p>
          <a:p>
            <a:r>
              <a:rPr lang="en-US" dirty="0"/>
              <a:t>Git Repository: </a:t>
            </a:r>
            <a:r>
              <a:rPr lang="en-US" dirty="0">
                <a:hlinkClick r:id="rId4"/>
              </a:rPr>
              <a:t>https://github.com/InaFPedersen/DesignPatterns</a:t>
            </a:r>
            <a:endParaRPr lang="en-US" dirty="0"/>
          </a:p>
          <a:p>
            <a:pPr lvl="1"/>
            <a:r>
              <a:rPr lang="en-US" dirty="0"/>
              <a:t>Description</a:t>
            </a:r>
          </a:p>
          <a:p>
            <a:pPr lvl="1"/>
            <a:r>
              <a:rPr lang="en-US" dirty="0"/>
              <a:t>Use cases</a:t>
            </a:r>
          </a:p>
          <a:p>
            <a:pPr lvl="1"/>
            <a:r>
              <a:rPr lang="en-US" dirty="0"/>
              <a:t>Consequences</a:t>
            </a:r>
          </a:p>
          <a:p>
            <a:r>
              <a:rPr lang="en-US" dirty="0"/>
              <a:t>Related patterns</a:t>
            </a:r>
          </a:p>
          <a:p>
            <a:r>
              <a:rPr lang="en-US" dirty="0"/>
              <a:t>Null Object: </a:t>
            </a:r>
            <a:r>
              <a:rPr lang="en-US" dirty="0">
                <a:hlinkClick r:id="rId5"/>
              </a:rPr>
              <a:t>https://app.pluralsight.com/library/courses/csharp-design-patterns-null-object/table-of-contents</a:t>
            </a:r>
            <a:endParaRPr lang="en-US" dirty="0"/>
          </a:p>
          <a:p>
            <a:r>
              <a:rPr lang="en-US" dirty="0"/>
              <a:t>Specification Pattern: </a:t>
            </a:r>
            <a:r>
              <a:rPr lang="en-US" dirty="0">
                <a:hlinkClick r:id="rId6"/>
              </a:rPr>
              <a:t>https://app.pluralsight.com/library/courses/csharp-specification-pattern/table-of-contents</a:t>
            </a:r>
            <a:endParaRPr lang="en-US" dirty="0"/>
          </a:p>
          <a:p>
            <a:r>
              <a:rPr lang="en-US" dirty="0"/>
              <a:t>Data Access Patterns: </a:t>
            </a:r>
            <a:r>
              <a:rPr lang="en-US" dirty="0">
                <a:hlinkClick r:id="rId7"/>
              </a:rPr>
              <a:t>https://app.pluralsight.com/library/courses/c-sharp-design-patterns-data-access-patterns/table-of-contents</a:t>
            </a:r>
            <a:endParaRPr lang="en-US" dirty="0"/>
          </a:p>
          <a:p>
            <a:r>
              <a:rPr lang="en-US" dirty="0"/>
              <a:t>Rule Engine Patterns: </a:t>
            </a:r>
            <a:r>
              <a:rPr lang="en-US" dirty="0">
                <a:hlinkClick r:id="rId8"/>
              </a:rPr>
              <a:t>https://app.pluralsight.com/library/courses/c-sharp-design-patterns-rules-pattern/table-of-contents</a:t>
            </a:r>
            <a:endParaRPr lang="en-US" dirty="0"/>
          </a:p>
        </p:txBody>
      </p:sp>
      <p:pic>
        <p:nvPicPr>
          <p:cNvPr id="6" name="Content Placeholder 5">
            <a:extLst>
              <a:ext uri="{FF2B5EF4-FFF2-40B4-BE49-F238E27FC236}">
                <a16:creationId xmlns:a16="http://schemas.microsoft.com/office/drawing/2014/main" id="{7069BCDB-7AEE-DA87-C963-F18B176E3887}"/>
              </a:ext>
            </a:extLst>
          </p:cNvPr>
          <p:cNvPicPr>
            <a:picLocks noGrp="1" noChangeAspect="1"/>
          </p:cNvPicPr>
          <p:nvPr>
            <p:ph sz="half" idx="2"/>
          </p:nvPr>
        </p:nvPicPr>
        <p:blipFill>
          <a:blip r:embed="rId9"/>
          <a:stretch>
            <a:fillRect/>
          </a:stretch>
        </p:blipFill>
        <p:spPr>
          <a:xfrm>
            <a:off x="7500158" y="2560511"/>
            <a:ext cx="3778008" cy="3309937"/>
          </a:xfrm>
        </p:spPr>
      </p:pic>
    </p:spTree>
    <p:extLst>
      <p:ext uri="{BB962C8B-B14F-4D97-AF65-F5344CB8AC3E}">
        <p14:creationId xmlns:p14="http://schemas.microsoft.com/office/powerpoint/2010/main" val="2409744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CC220-2AC4-4EF3-9058-77490F11A361}"/>
              </a:ext>
            </a:extLst>
          </p:cNvPr>
          <p:cNvSpPr>
            <a:spLocks noGrp="1"/>
          </p:cNvSpPr>
          <p:nvPr>
            <p:ph type="title"/>
          </p:nvPr>
        </p:nvSpPr>
        <p:spPr/>
        <p:txBody>
          <a:bodyPr/>
          <a:lstStyle/>
          <a:p>
            <a:r>
              <a:rPr lang="en-US" dirty="0"/>
              <a:t>Favorite</a:t>
            </a:r>
          </a:p>
        </p:txBody>
      </p:sp>
      <p:sp>
        <p:nvSpPr>
          <p:cNvPr id="3" name="Content Placeholder 2">
            <a:extLst>
              <a:ext uri="{FF2B5EF4-FFF2-40B4-BE49-F238E27FC236}">
                <a16:creationId xmlns:a16="http://schemas.microsoft.com/office/drawing/2014/main" id="{7ED3ADBD-D59A-66DA-F220-771A5C2259A0}"/>
              </a:ext>
            </a:extLst>
          </p:cNvPr>
          <p:cNvSpPr>
            <a:spLocks noGrp="1"/>
          </p:cNvSpPr>
          <p:nvPr>
            <p:ph sz="half" idx="1"/>
          </p:nvPr>
        </p:nvSpPr>
        <p:spPr/>
        <p:txBody>
          <a:bodyPr/>
          <a:lstStyle/>
          <a:p>
            <a:r>
              <a:rPr lang="en-US" dirty="0"/>
              <a:t>Favorite design patterns</a:t>
            </a:r>
          </a:p>
          <a:p>
            <a:pPr lvl="1"/>
            <a:r>
              <a:rPr lang="en-US" dirty="0"/>
              <a:t>Mediator</a:t>
            </a:r>
          </a:p>
          <a:p>
            <a:pPr lvl="1"/>
            <a:r>
              <a:rPr lang="en-US" dirty="0"/>
              <a:t>Builder</a:t>
            </a:r>
          </a:p>
          <a:p>
            <a:pPr lvl="1"/>
            <a:r>
              <a:rPr lang="en-US" dirty="0"/>
              <a:t>Bridge</a:t>
            </a:r>
          </a:p>
          <a:p>
            <a:r>
              <a:rPr lang="en-US" dirty="0"/>
              <a:t>But most of the 23 design patterns are amazing!</a:t>
            </a:r>
          </a:p>
          <a:p>
            <a:r>
              <a:rPr lang="en-US" dirty="0"/>
              <a:t>Which are your </a:t>
            </a:r>
            <a:r>
              <a:rPr lang="en-US"/>
              <a:t>favorite pattern?</a:t>
            </a:r>
            <a:endParaRPr lang="en-US" dirty="0"/>
          </a:p>
          <a:p>
            <a:pPr marL="457200" lvl="1" indent="0">
              <a:buNone/>
            </a:pPr>
            <a:endParaRPr lang="en-US" dirty="0"/>
          </a:p>
        </p:txBody>
      </p:sp>
      <p:pic>
        <p:nvPicPr>
          <p:cNvPr id="6" name="Content Placeholder 5" descr="Aspiration with solid fill">
            <a:extLst>
              <a:ext uri="{FF2B5EF4-FFF2-40B4-BE49-F238E27FC236}">
                <a16:creationId xmlns:a16="http://schemas.microsoft.com/office/drawing/2014/main" id="{FDC23F51-4E34-788C-8D4A-364B60B373D7}"/>
              </a:ext>
            </a:extLst>
          </p:cNvPr>
          <p:cNvPicPr>
            <a:picLocks noGrp="1" noChangeAspect="1"/>
          </p:cNvPicPr>
          <p:nvPr>
            <p:ph sz="half" idx="2"/>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11903" y="2556761"/>
            <a:ext cx="3487691" cy="3487691"/>
          </a:xfrm>
        </p:spPr>
      </p:pic>
    </p:spTree>
    <p:extLst>
      <p:ext uri="{BB962C8B-B14F-4D97-AF65-F5344CB8AC3E}">
        <p14:creationId xmlns:p14="http://schemas.microsoft.com/office/powerpoint/2010/main" val="3636955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21B81-E385-3CAD-8A4B-A3EB5D959E2B}"/>
              </a:ext>
            </a:extLst>
          </p:cNvPr>
          <p:cNvSpPr>
            <a:spLocks noGrp="1"/>
          </p:cNvSpPr>
          <p:nvPr>
            <p:ph type="title"/>
          </p:nvPr>
        </p:nvSpPr>
        <p:spPr/>
        <p:txBody>
          <a:bodyPr/>
          <a:lstStyle/>
          <a:p>
            <a:r>
              <a:rPr lang="en-US" dirty="0"/>
              <a:t>Questions?</a:t>
            </a:r>
          </a:p>
        </p:txBody>
      </p:sp>
      <p:pic>
        <p:nvPicPr>
          <p:cNvPr id="5" name="Content Placeholder 4" descr="Brain in head with solid fill">
            <a:extLst>
              <a:ext uri="{FF2B5EF4-FFF2-40B4-BE49-F238E27FC236}">
                <a16:creationId xmlns:a16="http://schemas.microsoft.com/office/drawing/2014/main" id="{9D8CA24D-698F-BA05-99CB-33CFC7C255DD}"/>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64423" y="4061014"/>
            <a:ext cx="1981200" cy="1981200"/>
          </a:xfrm>
        </p:spPr>
      </p:pic>
      <p:pic>
        <p:nvPicPr>
          <p:cNvPr id="7" name="Graphic 6" descr="Question Mark with solid fill">
            <a:extLst>
              <a:ext uri="{FF2B5EF4-FFF2-40B4-BE49-F238E27FC236}">
                <a16:creationId xmlns:a16="http://schemas.microsoft.com/office/drawing/2014/main" id="{99DC8023-8EE5-756D-190F-B344188EBE3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96000" y="2590802"/>
            <a:ext cx="1981200" cy="1981200"/>
          </a:xfrm>
          <a:prstGeom prst="rect">
            <a:avLst/>
          </a:prstGeom>
        </p:spPr>
      </p:pic>
    </p:spTree>
    <p:extLst>
      <p:ext uri="{BB962C8B-B14F-4D97-AF65-F5344CB8AC3E}">
        <p14:creationId xmlns:p14="http://schemas.microsoft.com/office/powerpoint/2010/main" val="347845379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461</TotalTime>
  <Words>1043</Words>
  <Application>Microsoft Office PowerPoint</Application>
  <PresentationFormat>Widescreen</PresentationFormat>
  <Paragraphs>110</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-apple-system</vt:lpstr>
      <vt:lpstr>Arial</vt:lpstr>
      <vt:lpstr>Calibri</vt:lpstr>
      <vt:lpstr>Garamond</vt:lpstr>
      <vt:lpstr>Organic</vt:lpstr>
      <vt:lpstr>Design Patterns</vt:lpstr>
      <vt:lpstr>Backround</vt:lpstr>
      <vt:lpstr>What is a Design Pattern &amp; why use it?</vt:lpstr>
      <vt:lpstr>Categories</vt:lpstr>
      <vt:lpstr>New Patterns</vt:lpstr>
      <vt:lpstr>Examples of design Patterns!</vt:lpstr>
      <vt:lpstr>Favorite</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Patterns</dc:title>
  <dc:creator>Ina Fløysvik Pedersen</dc:creator>
  <cp:lastModifiedBy>Ina Fløysvik Pedersen</cp:lastModifiedBy>
  <cp:revision>1</cp:revision>
  <dcterms:created xsi:type="dcterms:W3CDTF">2022-12-08T09:12:27Z</dcterms:created>
  <dcterms:modified xsi:type="dcterms:W3CDTF">2022-12-15T11:56:57Z</dcterms:modified>
</cp:coreProperties>
</file>